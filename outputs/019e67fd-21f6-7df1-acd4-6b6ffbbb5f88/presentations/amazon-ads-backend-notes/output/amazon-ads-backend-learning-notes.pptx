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133dc65b5f401b" /><Relationship Type="http://schemas.openxmlformats.org/officeDocument/2006/relationships/extended-properties" Target="/docProps/app.xml" Id="Rf675dee00f764a42" /><Relationship Type="http://schemas.openxmlformats.org/officeDocument/2006/relationships/officeDocument" Target="/ppt/presentation.xml" Id="R93ab40e902fd4e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0343a8e57b46c4"/>
  </p:sldMasterIdLst>
  <p:notesMasterIdLst>
    <p:notesMasterId xmlns:r="http://schemas.openxmlformats.org/officeDocument/2006/relationships" r:id="R0fa163d1e57b443a"/>
  </p:notesMasterIdLst>
  <p:sldIdLst>
    <p:sldId xmlns:r="http://schemas.openxmlformats.org/officeDocument/2006/relationships" id="256" r:id="Rd4877814d02e47ed"/>
    <p:sldId xmlns:r="http://schemas.openxmlformats.org/officeDocument/2006/relationships" id="257" r:id="Re7abfbc00f184334"/>
    <p:sldId xmlns:r="http://schemas.openxmlformats.org/officeDocument/2006/relationships" id="258" r:id="R43f815fb1eb14573"/>
    <p:sldId xmlns:r="http://schemas.openxmlformats.org/officeDocument/2006/relationships" id="259" r:id="Rb0f773499d654840"/>
    <p:sldId xmlns:r="http://schemas.openxmlformats.org/officeDocument/2006/relationships" id="260" r:id="R586350386e064136"/>
    <p:sldId xmlns:r="http://schemas.openxmlformats.org/officeDocument/2006/relationships" id="261" r:id="R3e550e5099114aeb"/>
    <p:sldId xmlns:r="http://schemas.openxmlformats.org/officeDocument/2006/relationships" id="262" r:id="R8956760e8a6248f3"/>
    <p:sldId xmlns:r="http://schemas.openxmlformats.org/officeDocument/2006/relationships" id="263" r:id="Rdacf9f5cf1b9431c"/>
    <p:sldId xmlns:r="http://schemas.openxmlformats.org/officeDocument/2006/relationships" id="264" r:id="R28250401f5f14d15"/>
    <p:sldId xmlns:r="http://schemas.openxmlformats.org/officeDocument/2006/relationships" id="265" r:id="Rac20ae8ce60b49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343a8e57b46c4" /><Relationship Type="http://schemas.openxmlformats.org/officeDocument/2006/relationships/theme" Target="/ppt/theme/theme1.xml" Id="R5aa37bfd0ba442e5" /><Relationship Type="http://schemas.openxmlformats.org/officeDocument/2006/relationships/notesMaster" Target="/ppt/notesMasters/notesMaster1.xml" Id="R0fa163d1e57b443a" /><Relationship Type="http://schemas.openxmlformats.org/officeDocument/2006/relationships/presProps" Target="/ppt/presProps.xml" Id="Rb1a7bda90183458d" /><Relationship Type="http://schemas.openxmlformats.org/officeDocument/2006/relationships/viewProps" Target="/ppt/viewProps.xml" Id="Rb14bad40e6604c4e" /><Relationship Type="http://schemas.openxmlformats.org/officeDocument/2006/relationships/tableStyles" Target="/ppt/tableStyles.xml" Id="Rcc8eb2b03a7046f9" /><Relationship Type="http://schemas.openxmlformats.org/officeDocument/2006/relationships/slide" Target="/ppt/slides/slide1.xml" Id="Rd4877814d02e47ed" /><Relationship Type="http://schemas.openxmlformats.org/officeDocument/2006/relationships/slide" Target="/ppt/slides/slide2.xml" Id="Re7abfbc00f184334" /><Relationship Type="http://schemas.openxmlformats.org/officeDocument/2006/relationships/slide" Target="/ppt/slides/slide3.xml" Id="R43f815fb1eb14573" /><Relationship Type="http://schemas.openxmlformats.org/officeDocument/2006/relationships/slide" Target="/ppt/slides/slide4.xml" Id="Rb0f773499d654840" /><Relationship Type="http://schemas.openxmlformats.org/officeDocument/2006/relationships/slide" Target="/ppt/slides/slide5.xml" Id="R586350386e064136" /><Relationship Type="http://schemas.openxmlformats.org/officeDocument/2006/relationships/slide" Target="/ppt/slides/slide6.xml" Id="R3e550e5099114aeb" /><Relationship Type="http://schemas.openxmlformats.org/officeDocument/2006/relationships/slide" Target="/ppt/slides/slide7.xml" Id="R8956760e8a6248f3" /><Relationship Type="http://schemas.openxmlformats.org/officeDocument/2006/relationships/slide" Target="/ppt/slides/slide8.xml" Id="Rdacf9f5cf1b9431c" /><Relationship Type="http://schemas.openxmlformats.org/officeDocument/2006/relationships/slide" Target="/ppt/slides/slide9.xml" Id="R28250401f5f14d15" /><Relationship Type="http://schemas.openxmlformats.org/officeDocument/2006/relationships/slide" Target="/ppt/slides/slide10.xml" Id="Rac20ae8ce60b49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5c2725141934c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a222aad1a5409b" /><Relationship Type="http://schemas.openxmlformats.org/officeDocument/2006/relationships/notesMaster" Target="/ppt/notesMasters/notesMaster1.xml" Id="R7f9458b1d4054c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97b6c68996407d" /><Relationship Type="http://schemas.openxmlformats.org/officeDocument/2006/relationships/notesMaster" Target="/ppt/notesMasters/notesMaster1.xml" Id="R9bd3374617ef41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a1cb06e1da4cdb" /><Relationship Type="http://schemas.openxmlformats.org/officeDocument/2006/relationships/notesMaster" Target="/ppt/notesMasters/notesMaster1.xml" Id="Rff2d1dc487594e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d39736d144a8d" /><Relationship Type="http://schemas.openxmlformats.org/officeDocument/2006/relationships/notesMaster" Target="/ppt/notesMasters/notesMaster1.xml" Id="R811a37bf249e4c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9284dac4af492a" /><Relationship Type="http://schemas.openxmlformats.org/officeDocument/2006/relationships/notesMaster" Target="/ppt/notesMasters/notesMaster1.xml" Id="R94017871e0dc4c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872d1ffecd4a7e" /><Relationship Type="http://schemas.openxmlformats.org/officeDocument/2006/relationships/notesMaster" Target="/ppt/notesMasters/notesMaster1.xml" Id="R0b32d8e6ece047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c251d0aeef4f68" /><Relationship Type="http://schemas.openxmlformats.org/officeDocument/2006/relationships/notesMaster" Target="/ppt/notesMasters/notesMaster1.xml" Id="Ra36ecc6202ca42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811f59cd3d4f7a" /><Relationship Type="http://schemas.openxmlformats.org/officeDocument/2006/relationships/notesMaster" Target="/ppt/notesMasters/notesMaster1.xml" Id="R51642396c14c44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916e9ac8084e22" /><Relationship Type="http://schemas.openxmlformats.org/officeDocument/2006/relationships/notesMaster" Target="/ppt/notesMasters/notesMaster1.xml" Id="R11e8a1623a4f45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65624881f14c41" /><Relationship Type="http://schemas.openxmlformats.org/officeDocument/2006/relationships/notesMaster" Target="/ppt/notesMasters/notesMaster1.xml" Id="R732ea264dd1848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bd99f75614ce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54c0f6e516b4014" /><Relationship Type="http://schemas.openxmlformats.org/officeDocument/2006/relationships/slideLayout" Target="/ppt/slideLayouts/slideLayout2.xml" Id="R5dcf239d5ade4b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cf239d5ade4b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db5c4e2702416a" /><Relationship Type="http://schemas.openxmlformats.org/officeDocument/2006/relationships/image" Target="/ppt/media/image.png" Id="R690fe51040644590" /><Relationship Type="http://schemas.openxmlformats.org/officeDocument/2006/relationships/notesSlide" Target="/ppt/notesSlides/notesSlide1.xml" Id="Re7f22e24ed264e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8e9a11c9864fa5" /><Relationship Type="http://schemas.openxmlformats.org/officeDocument/2006/relationships/notesSlide" Target="/ppt/notesSlides/notesSlide2.xml" Id="R455dcb933e7f4f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6fee39210b4f9e" /><Relationship Type="http://schemas.openxmlformats.org/officeDocument/2006/relationships/notesSlide" Target="/ppt/notesSlides/notesSlide3.xml" Id="R27e0507e258041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a96a44778e45aa" /><Relationship Type="http://schemas.openxmlformats.org/officeDocument/2006/relationships/image" Target="/ppt/media/image2.png" Id="Rc2b0d0e9a27f49af" /><Relationship Type="http://schemas.openxmlformats.org/officeDocument/2006/relationships/notesSlide" Target="/ppt/notesSlides/notesSlide4.xml" Id="R327f019d170741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0edec8d784164" /><Relationship Type="http://schemas.openxmlformats.org/officeDocument/2006/relationships/notesSlide" Target="/ppt/notesSlides/notesSlide5.xml" Id="Rbed7288eaf3442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12f267f900465f" /><Relationship Type="http://schemas.openxmlformats.org/officeDocument/2006/relationships/notesSlide" Target="/ppt/notesSlides/notesSlide6.xml" Id="R1c1a0838689446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fae1debde3445b" /><Relationship Type="http://schemas.openxmlformats.org/officeDocument/2006/relationships/notesSlide" Target="/ppt/notesSlides/notesSlide7.xml" Id="Rd71a3de3f0d94f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bef24a87544d9a" /><Relationship Type="http://schemas.openxmlformats.org/officeDocument/2006/relationships/image" Target="/ppt/media/image3.png" Id="R0ae273e8529249a1" /><Relationship Type="http://schemas.openxmlformats.org/officeDocument/2006/relationships/notesSlide" Target="/ppt/notesSlides/notesSlide8.xml" Id="R428149931a8643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7daab8a78f4430" /><Relationship Type="http://schemas.openxmlformats.org/officeDocument/2006/relationships/notesSlide" Target="/ppt/notesSlides/notesSlide9.xml" Id="Re8c03d3b16db40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37a27abf624c67" /><Relationship Type="http://schemas.openxmlformats.org/officeDocument/2006/relationships/notesSlide" Target="/ppt/notesSlides/notesSlide10.xml" Id="R3f905cae463340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8639E0-C357-45F5-A44C-CB8C1A70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fe51040644590"/>
          <a:srcRect xmlns:a="http://schemas.openxmlformats.org/drawingml/2006/main" l="23228" t="0" r="232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7375" y="0"/>
            <a:ext cx="652462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6D624-4D46-4C75-9EB4-64FF37D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C6469-ED19-4363-8C72-77822243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4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44A"/>
                </a:solidFill>
                <a:latin typeface="Aptos"/>
                <a:ea typeface="Aptos"/>
                <a:cs typeface="Aptos"/>
              </a:rPr>
              <a:t>MEETING NOTE / 2026-05-27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C7F21-4D88-4604-9EF8-BC1F3539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762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rPr>
              <a:t>Amazon Ads 后台学习笔记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C8868-D901-48C7-ABC9-F5D7F103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围绕商品推广 SP 的建广告、投放方式、竞价预算和复盘指标，把会议口述整理成可执行的运营 SOP。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BABD2-31B5-4E4A-A80D-6928141D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3800C-CEFF-4F25-A1DB-4A04B64F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6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F6F"/>
                </a:solidFill>
                <a:latin typeface="Aptos"/>
                <a:ea typeface="Aptos"/>
                <a:cs typeface="Aptos"/>
              </a:rPr>
              <a:t>SP 商品推广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BB85C-EE4C-4BE4-B510-EF05A111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147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13626-E51D-4D8D-A808-FEDF1D61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8142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6A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6A00"/>
                </a:solidFill>
                <a:latin typeface="Aptos"/>
                <a:ea typeface="Aptos"/>
                <a:cs typeface="Aptos"/>
              </a:rPr>
              <a:t>自动 / 手动投放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F4AF6-26C2-4A15-9D6C-3024B1EF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147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652A9-2EFE-41C0-8470-DFBDF8A3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814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64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644A"/>
                </a:solidFill>
                <a:latin typeface="Aptos"/>
                <a:ea typeface="Aptos"/>
                <a:cs typeface="Aptos"/>
              </a:rPr>
              <a:t>ACOS / ROAS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2400D-2F9F-4E0D-BE7F-BF7B22EF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学习目标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76A97-9A02-4750-B5D2-4A485D51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47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1. 认识广告类型与 SP 核心入口</a:t>
            </a:r>
          </a:p>
          <a:p xmlns:a="http://schemas.openxmlformats.org/drawingml/2006/main">
            <a:pPr algn="l">
              <a:defRPr sz="1500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2. 掌握自动、手动、否定投放的用途</a:t>
            </a:r>
          </a:p>
          <a:p xmlns:a="http://schemas.openxmlformats.org/drawingml/2006/main">
            <a:pPr algn="l">
              <a:defRPr sz="1500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3. 会用后台指标判断广告是否值得继续烧</a:t>
            </a:r>
          </a:p>
        </p:txBody>
      </p:sp>
    </p:spTree>
    <p:extLst>
      <p:ext uri="{BB962C8B-B14F-4D97-AF65-F5344CB8AC3E}">
        <p14:creationId xmlns:p14="http://schemas.microsoft.com/office/powerpoint/2010/main" val="11887454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E59E78-D164-4144-B72C-172127A2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B106E-6EAE-4337-A260-DB8488F0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Amazon Ads 后台学习笔记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19C3E-E312-4A93-BF2A-E5964F11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43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03638-D083-43F3-A306-6CE1A1A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rPr>
              <a:t>广告类型先分清：本次重点是 SP 商品推广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161A8-708F-4F2E-A7DE-DCFF6DD3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会议里提到的广告类型可以先按“稳定出单优先级”理解：公司当前主要做商品推广，品牌推广和展示型作为补充，流媒体电视场景较少使用。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98E21-3B42-4C6C-81F5-322E449F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C2756-B5F2-4F93-96E9-5E468E4F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6EFAA-AF6E-453E-A353-CD57BC20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商品推广 SP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33E16-468B-40B9-B327-65C9D334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最常用、出单更稳定。可做自动投放和手动投放，是新手最先要掌握的后台路径。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A920C-14F4-445B-B7DA-822265D2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3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64339-CCBF-4DC8-9A10-EF369414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ACE10-E94B-45FD-A6EF-AF1307DB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品牌推广 SB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317E9-FA10-4770-B55C-7FD90CFA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86075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包括头条、视频等形态，更偏品牌露出和关键词入口，占位强但需要素材与账号权限。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DE64C-72F4-4F8A-AF36-34990DC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4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BF0C2-B06F-40BB-8DFF-EC31CA1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75110-1DE8-4148-AAD4-5BA710F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展示型推广 SD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B73D3-4F22-48CB-9F02-85145B38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86075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用于商品/受众再触达、展示型曝光。会议中提到优先级低于 SP。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73C5D-DF8E-4798-BBBA-056B1DCC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00625"/>
            <a:ext cx="985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359EF-135E-4EE9-B658-BC625847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6F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6F6F"/>
                </a:solidFill>
                <a:latin typeface="Aptos"/>
                <a:ea typeface="Aptos"/>
                <a:cs typeface="Aptos"/>
              </a:rPr>
              <a:t>SP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094D3-3455-447B-84E2-02198E56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62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先学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67FC4-9EE1-4795-B8AE-535EE786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911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36B0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36B00"/>
                </a:solidFill>
                <a:latin typeface="Aptos"/>
                <a:ea typeface="Aptos"/>
                <a:cs typeface="Aptos"/>
              </a:rPr>
              <a:t>SB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63608-FD06-4E9B-809A-FD7814B7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62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再拓展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705B8-9580-4338-97BD-84398340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1911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64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644A"/>
                </a:solidFill>
                <a:latin typeface="Aptos"/>
                <a:ea typeface="Aptos"/>
                <a:cs typeface="Aptos"/>
              </a:rPr>
              <a:t>SD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A6A00-123A-4DAC-85AC-C3F93A27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562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补充触达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35093-2A9E-4FCF-B35C-7A73852C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9112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Streaming TV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2ADCE-12A5-4036-9308-A714C2EB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62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较少使用</a:t>
            </a:r>
          </a:p>
        </p:txBody>
      </p:sp>
    </p:spTree>
    <p:extLst>
      <p:ext uri="{BB962C8B-B14F-4D97-AF65-F5344CB8AC3E}">
        <p14:creationId xmlns:p14="http://schemas.microsoft.com/office/powerpoint/2010/main" val="12876478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BFBF87-D70F-4A7E-8DBC-9917D0DB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4107A-B8A7-45F5-AF43-F4BB826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Amazon Ads 后台学习笔记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025FC-8B80-4345-A007-90D05192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43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D848F-C651-4732-A3E0-58F8089E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rPr>
              <a:t>SP 新建广告：从命名到预算的后台路径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BC3BF-0EE4-4DA5-BFCC-3E62DE1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2238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D5E1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43133-F1A3-4505-B981-A0E912EE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383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6F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6F6F"/>
                </a:solidFill>
                <a:latin typeface="Aptos"/>
                <a:ea typeface="Aptos"/>
                <a:cs typeface="Aptos"/>
              </a:rPr>
              <a:t>01 命名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2810E-7918-43F7-955E-CB9A6522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860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广告组名称要写清款式、自动/手动，方便后续复盘。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BECDC-19B7-48B5-9CF2-766CB5C6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765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6DB2A-166A-4FA5-8CA7-A1DFFC75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238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B65A2-8D6E-4E42-B8B0-CC169A37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02 选择商品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3DBB6-1D59-42A4-98C1-31C7CCA8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860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输入要推广的 ASIN；SP 可放同款多个 ASIN，视频通常只能放一个。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4AC6A-6C8B-48D0-9EE5-8E28BAEF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765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FC7B0-E2BF-4B29-BA85-D7CB579F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2238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131C0-6638-4387-95AD-F9F4F061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383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03 投放方式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FAFE1-43D9-4C95-A5A3-BE168DB8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860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选择自动或手动：自动负责探索，手动围绕明确关键词/商品。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A27C0-DA39-48D3-AD15-595F0AE1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765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5D76C-C07B-4F08-8439-1860CE8D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238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B980C-5800-49A7-9E42-AAAA7D50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383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04 竞价与预算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AA6A5-6A9C-41CA-86DF-C1034F11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设默认竞价、广告位调整和每日预算；上线后再看数据调。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CDBF3-C11E-40AA-A679-98AEF737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8CA4A-237D-45AA-BFC9-974BB297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会议提醒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18C44-DCEB-4965-BDDF-572A74F4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BB288-2CC2-4836-B12C-8D08C111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7B96F-0528-425B-B6F0-5373EF83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48275"/>
            <a:ext cx="958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「企业买家」定向不要默认开启；开始日期通常不动，自动广告创建后无需审核，刷新后就会开始投放。预算是每日预算，但亚马逊会在月度范围内平滑消耗。</a:t>
            </a:r>
          </a:p>
        </p:txBody>
      </p:sp>
    </p:spTree>
    <p:extLst>
      <p:ext uri="{BB962C8B-B14F-4D97-AF65-F5344CB8AC3E}">
        <p14:creationId xmlns:p14="http://schemas.microsoft.com/office/powerpoint/2010/main" val="564198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624739-EA58-4275-B1C4-FB9B3E28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FE6C5-473C-4AD5-9904-FC34E0A4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Amazon Ads 后台学习笔记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BDA27-AF20-4438-98FF-B0FD2760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43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1C6C0-E819-44F7-8B77-3B170369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rPr>
              <a:t>自动投放：让系统先帮你探索流量池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0d0e9a27f49af"/>
          <a:srcRect xmlns:a="http://schemas.openxmlformats.org/drawingml/2006/main" l="3100" t="0" r="3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095500"/>
            <a:ext cx="5000625" cy="3000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3A393-ABAB-4932-B4F3-71E12955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000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BE5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E42D1-E2F2-4135-967D-FF71342C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381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A266E-76A1-4CE3-A66C-C865A1E2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25307-8BF7-4EE6-BB28-21AEDC35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紧密匹配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9A9F8-8FC0-4EC2-B624-6C61CE41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围绕标题和核心关键词，相关性最高。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F16B3-0155-4AAC-ACFD-673137E7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0"/>
            <a:ext cx="2381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3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0ACC5-E813-4AE6-8067-17DDB6E0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C988F-A5E8-400C-A646-76A25E39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14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宽泛匹配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A356E-A8B5-4740-9ECE-612147B7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764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会跑更多相关或弱相关词，用来找新流量。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5EC8A-2B09-48FA-85FD-6F21CC34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381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4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4F1C2-4BE2-48C9-A3FE-2DAB064A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B3ECB-053C-4922-9A74-1E282BB2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同类商品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06443-B938-4586-A853-B809B89B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展示在同类商品页面或同类搜索路径。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57D25-A1EB-4BC9-A968-3243BC53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381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F9743-578F-4198-BD07-1DD78B70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9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685E6-FE55-4950-B358-D0C96478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718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关联商品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951D9-7E71-475E-A084-ADD62469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338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投到相关商品和互补场景，范围更宽。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42458-4CDA-4B42-8127-D6F62F7D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04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A1552-D316-44D8-A47B-403C7ABD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39590-17AC-47DE-AF56-9D5B0B51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自动投放的核心价值是「探索」：跑出哪些词、哪些商品值得继续投；后续把有效词沉淀到手动广告，把无效词加入否定。</a:t>
            </a:r>
          </a:p>
        </p:txBody>
      </p:sp>
    </p:spTree>
    <p:extLst>
      <p:ext uri="{BB962C8B-B14F-4D97-AF65-F5344CB8AC3E}">
        <p14:creationId xmlns:p14="http://schemas.microsoft.com/office/powerpoint/2010/main" val="14701844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1AB9F-E140-4809-ADF9-15CF50D7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654AC-3BCB-4463-BA68-CC85A910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Amazon Ads 后台学习笔记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D930B-31AA-435B-8BC0-8B86CD6D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43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14028-FA34-4B30-A692-8AFF46D0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rPr>
              <a:t>手动投放：把预算集中到你想控制的词和商品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8250F-4771-465B-9CAB-F5FEF1C4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8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6237D-FFA6-499B-9F91-D4128ECD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BC7C3-5776-473A-89A7-D1EDCC63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关键词投放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F62DF-6A56-4AFA-85AD-2192A5C2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288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F6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F6F"/>
                </a:solidFill>
                <a:latin typeface="Aptos"/>
                <a:ea typeface="Aptos"/>
                <a:cs typeface="Aptos"/>
              </a:rPr>
              <a:t>广泛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32CF5-C866-4641-A546-6BA9BFD9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2880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覆盖所有相关搜索词，探索空间大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4374F-296B-408A-9F00-D9A16DEB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7"/>
          </a:solidFill>
          <a:ln xmlns:a="http://schemas.openxmlformats.org/drawingml/2006/main" w="9525">
            <a:solidFill>
              <a:srgbClr val="E1E8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993FE-E4CA-4CCA-9781-DEACE1AD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FFEAC-A375-4243-B17A-057EA631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关键词投放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00944-28A2-48ED-8F11-33AE0965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8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B83F"/>
                </a:solidFill>
                <a:latin typeface="Aptos"/>
                <a:ea typeface="Aptos"/>
                <a:cs typeface="Aptos"/>
              </a:rPr>
              <a:t>词组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64508-34F4-4158-9A7C-6E9369AD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以词组为单位匹配，相关性中等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88A5C-29BC-427F-9CFC-598E1445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8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55251-3BE1-4999-B99F-F4BE786C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C94EB-73FA-4C57-9C37-944B58B2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关键词投放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D189D-EC1F-4BB5-900D-11D6B59E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0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64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644A"/>
                </a:solidFill>
                <a:latin typeface="Aptos"/>
                <a:ea typeface="Aptos"/>
                <a:cs typeface="Aptos"/>
              </a:rPr>
              <a:t>精准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FC99A-A84F-4581-8311-FEB71B00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只跑指定关键词，控制力强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06075E-59E7-4601-BF4B-E5F740A4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7"/>
          </a:solidFill>
          <a:ln xmlns:a="http://schemas.openxmlformats.org/drawingml/2006/main" w="9525">
            <a:solidFill>
              <a:srgbClr val="E1E8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82BE3-534D-4C14-B32A-A50CE4AE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224E2-7961-4D41-BAB2-8BFF0EB2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商品投放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DA865-FF5B-4140-B3C2-DB551E5E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9F9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9F9A"/>
                </a:solidFill>
                <a:latin typeface="Aptos"/>
                <a:ea typeface="Aptos"/>
                <a:cs typeface="Aptos"/>
              </a:rPr>
              <a:t>指定 ASIN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80756-646D-47F4-98AA-B51C2426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8620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投竞品或相似款；可用在价格/评分有优势时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F6EA4-2112-4B14-BE51-45E3FBD3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8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742D3F-C8BE-4885-960E-2CF3D9AA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9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F318C-DD42-4881-840D-935AA103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商品投放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CA48C-ABEA-47AD-8A34-743BC5C4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类目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D8CE65-6860-4245-82E4-8A5D087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投某个类目，可按价格、Prime 等条件细化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DC11D6-622F-479D-96C2-5352AAF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57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4752C1-0321-44CD-8BF9-967554A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经验口径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C0B34E-EA18-4E72-9A46-ECBA0384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4"/>
          </a:solidFill>
          <a:ln xmlns:a="http://schemas.openxmlformats.org/drawingml/2006/main" w="9525">
            <a:solidFill>
              <a:srgbClr val="D7E1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FF737C-09A6-4FC0-B764-43B9FBAA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4E7408-0E9C-41E2-A329-001C3181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48350"/>
            <a:ext cx="996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否定投放要同时跟上：否定精准只拦一个词；否定词组会拦包含该词组的搜索。尺码、无关场景词、明显亏损词要及时处理。</a:t>
            </a:r>
          </a:p>
        </p:txBody>
      </p:sp>
    </p:spTree>
    <p:extLst>
      <p:ext uri="{BB962C8B-B14F-4D97-AF65-F5344CB8AC3E}">
        <p14:creationId xmlns:p14="http://schemas.microsoft.com/office/powerpoint/2010/main" val="21194123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71424-149D-4113-A013-B4A03FEA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E591F-D549-4D55-9A84-DB3E2650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Amazon Ads 后台学习笔记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8F968-C145-4C81-95FF-5ABDA9AF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43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9A6D4-5EB4-4195-AC4A-51CD8381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rPr>
              <a:t>竞价策略：选择策略前先理解放大效应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DE363-BF83-491E-A4C6-44CC5B80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4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B6B2B-1C23-490F-9F02-E8E151E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BDFEE-6DDA-40A2-BE1E-0B13387B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提高和降低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3FDFF-AB96-40D8-8720-AFFB5846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系统认为可能带来销量时，最高可把竞价提高；不相关时会降低。风险是 CPC 被放大。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98CAD-5312-4084-A1D9-B9F96A17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EAA61-910B-4496-9025-E9D5584E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8E4FE-8618-4DD1-B634-76C8E7C9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仅降低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86097-7F1D-45A6-8838-F4ACF02D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当系统判断不容易成交时只降低竞价，不向上放大。新手和稳定控制成本时更稳。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0E50E-BC1A-42CE-9254-85B3AE58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3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FB410-E2D1-4088-B518-93507E5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D225E-2E61-4DDA-98B9-25316729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固定竞价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C34D3-8A15-4EB0-A8A0-7D712877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按设定竞价跑，不随转化概率自动上下浮动，适合明确控制实验。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28FC9-A674-413A-B910-7C260092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FC802-5230-4B2C-8AA2-F063DE5C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6A78E-7AB6-462C-9C73-2EE1558E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629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从「仅降低 / 固定」改到「提高和降低」时，要同步下调基础竞价。例：1 美元竞价被提高 100% 后，实际可能变成 2 美元。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9ECE8-3D2C-498D-8CAF-5D5D7926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9F0EE-9C4F-42B4-A87A-807C6A79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F8CBE-BBA3-441E-B7EF-37E07BDB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629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广告位加价主要用于抢搜索结果首页顶部。会议建议：除非明确要霸占首页位置，否则少动。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A77F6-BD2C-40AE-B7D7-F849D7A1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19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慎用：基于规则的竞价需要广告跑满 30 天，有历史数据后才可用；会议经验是它经常达不到目标，且会拉高点击单价。</a:t>
            </a:r>
          </a:p>
        </p:txBody>
      </p:sp>
    </p:spTree>
    <p:extLst>
      <p:ext uri="{BB962C8B-B14F-4D97-AF65-F5344CB8AC3E}">
        <p14:creationId xmlns:p14="http://schemas.microsoft.com/office/powerpoint/2010/main" val="14670159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DBF6A1-DCE8-4557-B0BB-23FE990E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99E7D-11C9-4E1E-BA3F-DA1F3292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Amazon Ads 后台学习笔记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83B31-FD0F-4E22-AE27-0615BDDA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43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41B87-4D21-4B11-A006-B3F50AB8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rPr>
              <a:t>预算逻辑：看月度平滑消耗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BA28D-156D-4892-99BC-1CD036DF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会议重点：每日预算 100 美金，不代表每天超过 100 就绝对停止。今天只烧 80，剩余预算可能会在本月其他日期补烧。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F4420-1074-41A7-8E76-FA5B7624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5524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C50FF-0C17-4811-B5A8-EA3D0093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$80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15B0D-1B2B-40BB-8E27-0D6302F1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58440"/>
            <a:ext cx="552450" cy="1927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616E2-303E-46BA-8F2D-17E1FFDA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$92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21332-4562-4F29-A401-AD2B3597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5524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F6E1F-AA72-4E66-BB4E-ABBEC8AA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815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$110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E99CB-2590-4E97-9BD9-1C03A9C3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71700"/>
            <a:ext cx="552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E018D-BF0A-47B7-B1D7-26A8600C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815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$120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4EB36-F244-4945-8E7F-AFCED0A3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93720"/>
            <a:ext cx="552450" cy="1592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B2AD5-E775-417D-8DB5-269E6AC3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815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$76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5C269-3219-46EA-A76D-44736799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06980"/>
            <a:ext cx="552450" cy="2179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F5D70-7BC3-4AE4-8B82-4C23C6FC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815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$104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E5910-808E-4938-B700-38EB8202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13610"/>
            <a:ext cx="552450" cy="2472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8EA33-D0CA-46E8-A013-DB7DF7C3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815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$118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CFFBF-6740-473E-9E54-DB5256F8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90800"/>
            <a:ext cx="762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2A1E9-113D-4AC9-931B-76F630E7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669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6A00"/>
                </a:solidFill>
                <a:latin typeface="Aptos"/>
                <a:ea typeface="Aptos"/>
                <a:cs typeface="Aptos"/>
              </a:rPr>
              <a:t>预算线 $100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E430D-EB73-4025-A8B6-B9B16A34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069C36-67EA-45AB-AEA1-F222669C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操作建议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A1435-6F8B-492B-A21C-114F05EB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53B01-C4D1-4C3B-AD57-E61CB6D2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C71D5D-9F85-4BD8-88B2-D6BA42A2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67400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预算先按测试承受力设置；如果广告经常很早烧完，再考虑加预算或做预算规则。预算规则可按日期/时段增加预算，但会议中提到使用较少。</a:t>
            </a:r>
          </a:p>
        </p:txBody>
      </p:sp>
    </p:spTree>
    <p:extLst>
      <p:ext uri="{BB962C8B-B14F-4D97-AF65-F5344CB8AC3E}">
        <p14:creationId xmlns:p14="http://schemas.microsoft.com/office/powerpoint/2010/main" val="6199831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FC4B48-91A1-4571-97B6-9EBDDA28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FD4AD-29D7-4BF9-9E8B-92DAD601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Amazon Ads 后台学习笔记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4320E-B9D3-41BB-93BB-9342983C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43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BE0ED-EB2C-4340-8E31-6CB00358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rPr>
              <a:t>看数指标：先读这一组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273e8529249a1"/>
          <a:srcRect xmlns:a="http://schemas.openxmlformats.org/drawingml/2006/main" l="12187" t="0" r="121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714500"/>
            <a:ext cx="4095750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CB902-D62E-42A6-B284-21C2BCEF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428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F1E43-061D-40F1-AE20-B38857F1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6DDFA-6834-49FB-BEAB-9D8FE441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展现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E21C6-D15D-474F-BD7D-9CBD0A03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204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广告被看到多少次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FAFC3-4B83-403F-9025-17609129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428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21DBB-1859-44E9-9F92-385542B8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0003B-0CAF-4A76-9E78-0707192D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62125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点击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34EDF-82D9-4B5E-BDAF-8FDC5FF9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24075"/>
            <a:ext cx="204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点击才会扣费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3502B-4617-4525-B5C5-8232883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28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1F941-4359-40D9-B5FF-1A0E5A15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C2800-5B91-4BCE-9A85-807BEF37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CTR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A7BD9-BA33-4A39-B9A3-03FFC199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04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点击率 = 点击 / 展现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651C0-26BF-4A75-BA7E-00060BB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428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229F7-0A86-43AD-AB6E-4C3CDE75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FB0B4-69D5-4EA2-B12C-2322F018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CPC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61343-A9AC-4E34-B95E-FCCF1539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204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单次点击成本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A3A1C-D6AB-443E-8285-803DBCD2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428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F9AB9-F4EC-4373-A17C-5CA65B4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A9F57-ACC5-4F1D-9D6B-FE039CEF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销售额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E4D88-5042-4544-BB4F-C5C8648F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43325"/>
            <a:ext cx="204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广告带来的销售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99283C-457D-4C6F-BE55-24FAA2B3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90875"/>
            <a:ext cx="2428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BC454-8F44-481F-B8F6-2C2E3C06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90875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002B39-922C-4489-AFD3-B2110BF0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ACOS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B7BDCF-F513-4C9F-A77C-18CE78BF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204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广告花费 / 销售额，越低越好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A00607-3923-4F60-BC9D-FB0C36B2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428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828BB-5279-42C0-A19A-719626D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04A30-D8E2-46F0-A830-EFF7E553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ROAS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272D72-6329-47EB-ACA0-D7F6D2C0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204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销售额 / 广告花费，越高越好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39618B-F6E5-46BF-8B0F-97A4D8E4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958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6F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6F6F"/>
                </a:solidFill>
                <a:latin typeface="Aptos"/>
                <a:ea typeface="Aptos"/>
                <a:cs typeface="Aptos"/>
              </a:rPr>
              <a:t>不看单一指标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2AAD29-9452-45F6-AF75-D46F205E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67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判断原则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13465B-92C5-4245-B893-9F38BFB3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958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64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644A"/>
                </a:solidFill>
                <a:latin typeface="Aptos"/>
                <a:ea typeface="Aptos"/>
                <a:cs typeface="Aptos"/>
              </a:rPr>
              <a:t>利润为正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DCCFB-4461-41EB-945D-220B68A0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67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最终目标</a:t>
            </a:r>
          </a:p>
        </p:txBody>
      </p:sp>
    </p:spTree>
    <p:extLst>
      <p:ext uri="{BB962C8B-B14F-4D97-AF65-F5344CB8AC3E}">
        <p14:creationId xmlns:p14="http://schemas.microsoft.com/office/powerpoint/2010/main" val="18167670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483F80-F469-493E-B54C-049FBF06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0F87E-6BB4-459F-9E48-4F52FCF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Amazon Ads 后台学习笔记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EEB8B-A0E6-4447-9214-3EA0D39A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43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ED325-6DD0-4834-898A-2B00C754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rPr>
              <a:t>利润判断：平均广告费用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588C4-6949-4CAA-BC42-636EE77E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会议中的判断逻辑：最终不是只盯 ACOS，而是把广告总费用摊到全部订单，看每单平均广告成本是否低于单品利润。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E54F3-9017-4F00-A7B2-CD020C7C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1476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0663A-A3A0-44B2-8A11-758016B9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1476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6F6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6F6F"/>
                </a:solidFill>
                <a:latin typeface="Aptos"/>
                <a:ea typeface="Aptos"/>
                <a:cs typeface="Aptos"/>
              </a:rPr>
              <a:t>$180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0B455-9B3A-432A-B9D2-0B73281B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手动花费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B423A-CC52-4CA8-921B-F5FFBE0C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623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40C8A-4622-4845-9AA5-9EC3C4A4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81250"/>
            <a:ext cx="1476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3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732F2-51A5-4C08-B198-85ACD9B2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62250"/>
            <a:ext cx="1476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A6A0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A6A00"/>
                </a:solidFill>
                <a:latin typeface="Aptos"/>
                <a:ea typeface="Aptos"/>
                <a:cs typeface="Aptos"/>
              </a:rPr>
              <a:t>$120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713AE-2ED3-40AD-94F3-2552C76B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自动花费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20AD9-27C2-4AB6-9B83-6E6EC850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623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21CE0-BBF8-45BF-9C8B-13728A08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1476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4C81B-F019-46FE-9D3D-0765C56D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1476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136FE-E6A4-4CB2-900B-C52D785B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广告单量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8D2F6-F9A0-474A-97FF-3526C30D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BFA15-C0DA-4D0F-B9F4-DC439135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81250"/>
            <a:ext cx="1476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0A151-1327-463C-B00E-2B1D4637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62250"/>
            <a:ext cx="1476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C0271-EEB1-4516-970E-420FB194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337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全部订单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8631D-86E0-448F-8C1F-4F67B9B4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623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B2452-EF4B-4A1E-8FD6-D017C32D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81250"/>
            <a:ext cx="1476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4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0A205-07D0-454F-9991-EADFF0F1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62250"/>
            <a:ext cx="1476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64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644A"/>
                </a:solidFill>
                <a:latin typeface="Aptos"/>
                <a:ea typeface="Aptos"/>
                <a:cs typeface="Aptos"/>
              </a:rPr>
              <a:t>$3.41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CCCEC-CBD6-4EDC-9826-D87A914A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平均费用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552D8A-8A46-4CC7-A277-A5AC6C07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9191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3B244-BCC5-4B59-888B-7E91628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E7586-32F0-4885-B973-C2078B99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38700"/>
            <a:ext cx="8867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例：如果单品利润只有 $2，但平均广告费用 $3+，这款就是亏钱；如果利润约 $5，平均广告费用 $4+，仍可能为正。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EC57D-8EE8-4FD6-A84D-8FF4B4FF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102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建议沉淀日报/周报：总花费、手动花费、自动花费、广告订单、全部订单、平均广告费用。</a:t>
            </a:r>
          </a:p>
        </p:txBody>
      </p:sp>
    </p:spTree>
    <p:extLst>
      <p:ext uri="{BB962C8B-B14F-4D97-AF65-F5344CB8AC3E}">
        <p14:creationId xmlns:p14="http://schemas.microsoft.com/office/powerpoint/2010/main" val="19875019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7B2FC8-BABB-4B6B-8E91-099A061E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C8B0D-D363-4DC2-A20C-FFDA9A97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Amazon Ads 后台学习笔记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74BFB-05BF-4D7C-93B0-9DFB592B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43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98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BFA28-5B8A-4A53-BB0D-23B34CB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92F"/>
                </a:solidFill>
                <a:latin typeface="Aptos Display"/>
                <a:ea typeface="Aptos Display"/>
                <a:cs typeface="Aptos Display"/>
              </a:rPr>
              <a:t>一页 SOP：从上线到复盘的操作闭环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0ABB6-8A93-4C77-B3D4-8BFC3AA1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190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B0457-DEF8-4136-B426-1146319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33C00-8DA1-4103-9ED1-59469A4A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1. 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27FC3-CCED-481D-BB33-E230B143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命名清晰；选 ASIN；先跑 SP；预算和竞价保守起步。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018E9-BE0C-436B-A36A-B85C87C8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190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3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BF3C8-FED7-44C2-8FFF-8AB24331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8020F-A197-4DCF-84F9-B966F2FA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1431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2. Explore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CCC69-1E95-44B9-963B-2D73E7B0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505075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自动广告找词和商品；下载报表沉淀有效搜索词。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269BB-2F94-41C6-BA4B-E6E5DDF5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190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4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603A0-767B-4EA4-B4D7-2888AC0C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128EA-99F7-422A-B541-10D7BE22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431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3.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09D22-D8FA-44C1-9582-6C7FA850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05075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手动广告集中预算；补否定词、否定商品，避免无效烧钱。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10953-CB3D-4D73-ABF1-90B76009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52625"/>
            <a:ext cx="2190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2F7C5-C382-4997-9635-61A19852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526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9167D-A447-437D-A5A7-B815E5D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431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4. Optimize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3E10A-ED6B-4B04-B419-8183273E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05075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982"/>
                </a:solidFill>
                <a:latin typeface="Aptos"/>
                <a:ea typeface="Aptos"/>
                <a:cs typeface="Aptos"/>
              </a:rPr>
              <a:t>看 CTR / CPC / ACOS / ROAS，更要看平均广告费用与利润。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124F8-D094-4F41-8E1B-A2353894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8C8DB-554F-4812-8FA3-5CAC34B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98FE0-FB51-48A0-95D5-7D45E4EF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72025"/>
            <a:ext cx="901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92F"/>
                </a:solidFill>
                <a:latin typeface="Aptos"/>
                <a:ea typeface="Aptos"/>
                <a:cs typeface="Aptos"/>
              </a:rPr>
              <a:t>复习时优先掌握 SP：自动负责探索，手动负责放大，否定负责止损，最终用利润而不是单一后台指标决定是否继续投。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BA9D4-42C9-40EA-8F62-DCACD044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5787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9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92F"/>
                </a:solidFill>
                <a:latin typeface="Aptos"/>
                <a:ea typeface="Aptos"/>
                <a:cs typeface="Aptos"/>
              </a:rPr>
              <a:t>下一步建议：拿一个实际 ASIN，按本页 SOP 走一遍新建广告，并建立一张每日广告统计表。</a:t>
            </a:r>
          </a:p>
        </p:txBody>
      </p:sp>
    </p:spTree>
    <p:extLst>
      <p:ext uri="{BB962C8B-B14F-4D97-AF65-F5344CB8AC3E}">
        <p14:creationId xmlns:p14="http://schemas.microsoft.com/office/powerpoint/2010/main" val="1329722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2026-05-27T09:29:23.6590000Z</dcterms:created>
  <dcterms:modified xsi:type="dcterms:W3CDTF">2026-05-27T09:29:23.6590000Z</dcterms:modified>
</coreProperties>
</file>